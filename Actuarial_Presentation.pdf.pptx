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0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36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hilippenchev98/mortality-data-analysi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colab.research.google.com/github/philippenchev98/mortality-data-analysis/blob/main/Actuarial_Model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1726">
              <a:alpha val="60000"/>
            </a:srgbClr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4DCE8">
              <a:alpha val="12000"/>
            </a:srgbClr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E4DCE8">
              <a:alpha val="10000"/>
            </a:srgbClr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777240" cy="777240"/>
          </a:xfrm>
          <a:prstGeom prst="ellipse">
            <a:avLst/>
          </a:prstGeom>
          <a:solidFill>
            <a:srgbClr val="E4DCE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АКТЮЕРСКИ АНАЛИЗ  • 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Ценообразуване на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животозастрахователен риск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Актюерски модел с Python: анализ на демографски данни и изчисляване на Нетна еднократна премия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5806440"/>
            <a:ext cx="1280160" cy="0"/>
          </a:xfrm>
          <a:prstGeom prst="line">
            <a:avLst/>
          </a:prstGeom>
          <a:noFill/>
          <a:ln w="31750">
            <a:solidFill>
              <a:srgbClr val="3F8E82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9"/>
          <p:cNvSpPr/>
          <p:nvPr/>
        </p:nvSpPr>
        <p:spPr>
          <a:xfrm>
            <a:off x="731520" y="5925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Филип Пенчев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„Анализ на данни“ · ФМИ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 проблемът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застрахователна компания определя точна и справедлива цена на риска?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3F0F4"/>
          </a:solidFill>
          <a:ln/>
          <a:effectLst>
            <a:outerShdw blurRad="76200" dist="25400" dir="5400000" algn="bl" rotWithShape="0">
              <a:srgbClr val="A89AB0">
                <a:alpha val="2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99339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ЦЕЛТА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2286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застрахователна компания определя точната и справедлива цена (премия) за срочна застраховка живот?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3F0F4"/>
          </a:solidFill>
          <a:ln/>
          <a:effectLst>
            <a:outerShdw blurRad="76200" dist="25400" dir="5400000" algn="bl" rotWithShape="0">
              <a:srgbClr val="A89AB0">
                <a:alpha val="2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0" name="Shape 8"/>
          <p:cNvSpPr/>
          <p:nvPr/>
        </p:nvSpPr>
        <p:spPr>
          <a:xfrm>
            <a:off x="960120" y="3767328"/>
            <a:ext cx="640080" cy="64008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1" name="Text 9"/>
          <p:cNvSpPr/>
          <p:nvPr/>
        </p:nvSpPr>
        <p:spPr>
          <a:xfrm>
            <a:off x="960120" y="3767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356616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ПРЕДИЗВИКАТЕЛСТВОТО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385876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Трябва да балансираме демографския риск (вероятността клиентът да почине) с времевата стойност на парите (инвестиционната доходност на компанията).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74336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3F0F4"/>
          </a:solidFill>
          <a:ln/>
          <a:effectLst>
            <a:outerShdw blurRad="76200" dist="25400" dir="5400000" algn="bl" rotWithShape="0">
              <a:srgbClr val="A89AB0">
                <a:alpha val="25000"/>
              </a:srgbClr>
            </a:outerShdw>
          </a:effectLst>
        </p:spPr>
        <p:txBody>
          <a:bodyPr/>
          <a:lstStyle/>
          <a:p>
            <a:endParaRPr lang="bg-BG"/>
          </a:p>
        </p:txBody>
      </p:sp>
      <p:sp>
        <p:nvSpPr>
          <p:cNvPr id="15" name="Shape 13"/>
          <p:cNvSpPr/>
          <p:nvPr/>
        </p:nvSpPr>
        <p:spPr>
          <a:xfrm>
            <a:off x="960120" y="5340096"/>
            <a:ext cx="640080" cy="64008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6" name="Text 14"/>
          <p:cNvSpPr/>
          <p:nvPr/>
        </p:nvSpPr>
        <p:spPr>
          <a:xfrm>
            <a:off x="960120" y="5340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74520" y="513892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РЕШЕНИЕТО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5431536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Изграждане на алгоритъм, базиран на „Принципа на еквивалентността“ </a:t>
            </a:r>
            <a:r>
              <a:rPr lang="bg-BG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очакваната стойност на бъдещите плащания се равнява на очакваната стойност на премията.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Данни и технологичен стек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Основата на всеки коректен </a:t>
            </a:r>
            <a:r>
              <a:rPr lang="en-US" sz="1400" i="1" dirty="0" err="1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r>
              <a:rPr lang="en-US" sz="140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140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надеждни данни и правилните инструменти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E4DCE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ДАННИТЕ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Официални таблици за смъртност (life tables) за България, 2021 г.</a:t>
            </a:r>
            <a:r>
              <a:rPr lang="bg-BG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1×1 </a:t>
            </a:r>
            <a:r>
              <a:rPr lang="bg-BG" sz="130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единични години възраст, за максимална прецизност на модела.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846320"/>
            <a:ext cx="4206240" cy="0"/>
          </a:xfrm>
          <a:prstGeom prst="line">
            <a:avLst/>
          </a:prstGeom>
          <a:noFill/>
          <a:ln w="12700">
            <a:solidFill>
              <a:srgbClr val="4A3F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на файла: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26080" y="5029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8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.xlsx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3F0F4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4" name="Shape 12"/>
          <p:cNvSpPr/>
          <p:nvPr/>
        </p:nvSpPr>
        <p:spPr>
          <a:xfrm>
            <a:off x="6336792" y="2093976"/>
            <a:ext cx="731520" cy="73152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5" name="Text 13"/>
          <p:cNvSpPr/>
          <p:nvPr/>
        </p:nvSpPr>
        <p:spPr>
          <a:xfrm>
            <a:off x="6336792" y="20939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69480" y="2359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двигател на математическия </a:t>
            </a:r>
            <a:r>
              <a:rPr lang="en-US" sz="1200" dirty="0" err="1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r>
              <a:rPr lang="en-US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цялата актюерска логика.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3273552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3F0F4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9" name="Shape 17"/>
          <p:cNvSpPr/>
          <p:nvPr/>
        </p:nvSpPr>
        <p:spPr>
          <a:xfrm>
            <a:off x="6336792" y="3538728"/>
            <a:ext cx="731520" cy="73152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0" name="Text 18"/>
          <p:cNvSpPr/>
          <p:nvPr/>
        </p:nvSpPr>
        <p:spPr>
          <a:xfrm>
            <a:off x="6336792" y="35387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69480" y="3410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69480" y="38039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Извличане, филтриране и манипулация на суровите .xlsx файлове.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4718304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3F0F4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4" name="Shape 22"/>
          <p:cNvSpPr/>
          <p:nvPr/>
        </p:nvSpPr>
        <p:spPr>
          <a:xfrm>
            <a:off x="6336792" y="4983480"/>
            <a:ext cx="731520" cy="73152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5" name="Text 23"/>
          <p:cNvSpPr/>
          <p:nvPr/>
        </p:nvSpPr>
        <p:spPr>
          <a:xfrm>
            <a:off x="6336792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48554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524865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Визуално изследване на данните (EDA) </a:t>
            </a:r>
            <a:r>
              <a:rPr lang="bg-BG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графики на смъртност и дълголетие.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Визуализация на риска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разкриват данните преди изобщо да построим модела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502920" y="54864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0F4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7" name="Text 3"/>
          <p:cNvSpPr/>
          <p:nvPr/>
        </p:nvSpPr>
        <p:spPr>
          <a:xfrm>
            <a:off x="713232" y="5605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900" b="1" i="1" baseline="-40000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2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Ясно се вижда структурното предимство на жените в очакваната продължителност на живота.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199632" y="54864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3F0F4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9" name="Text 5"/>
          <p:cNvSpPr/>
          <p:nvPr/>
        </p:nvSpPr>
        <p:spPr>
          <a:xfrm>
            <a:off x="6405372" y="5605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en-US" sz="900" b="1" i="1" baseline="-40000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2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Логаритмичната скала разкрива „акцидентната гърбица“ при младите мъже и експоненциален растеж след 40 г.</a:t>
            </a:r>
            <a:endParaRPr lang="en-US" sz="1350" dirty="0"/>
          </a:p>
        </p:txBody>
      </p:sp>
      <p:pic>
        <p:nvPicPr>
          <p:cNvPr id="11" name="Picture 10" descr="A graph showing a red and blue line&#10;&#10;AI-generated content may be incorrect.">
            <a:extLst>
              <a:ext uri="{FF2B5EF4-FFF2-40B4-BE49-F238E27FC236}">
                <a16:creationId xmlns:a16="http://schemas.microsoft.com/office/drawing/2014/main" id="{8C64A0A2-C8DE-3064-90DD-3BE36414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797" y="1665327"/>
            <a:ext cx="5878910" cy="3527345"/>
          </a:xfrm>
          <a:prstGeom prst="rect">
            <a:avLst/>
          </a:prstGeom>
        </p:spPr>
      </p:pic>
      <p:pic>
        <p:nvPicPr>
          <p:cNvPr id="13" name="Picture 12" descr="A graph showing a red and blue line&#10;&#10;AI-generated content may be incorrect.">
            <a:extLst>
              <a:ext uri="{FF2B5EF4-FFF2-40B4-BE49-F238E27FC236}">
                <a16:creationId xmlns:a16="http://schemas.microsoft.com/office/drawing/2014/main" id="{FB0F3D05-B2EA-299C-FD65-AEE9B1CDE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65327"/>
            <a:ext cx="5878907" cy="3527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1E1726">
              <a:alpha val="55000"/>
            </a:srgbClr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Математическото сърце на модела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4241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Логиката зад кода, обяснена стъпка по </a:t>
            </a:r>
            <a:r>
              <a:rPr lang="en-US" sz="1400" i="1" dirty="0" err="1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стъпка</a:t>
            </a:r>
            <a:r>
              <a:rPr lang="en-US" sz="14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14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всяка година от договора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3B314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6" name="Shape 4"/>
          <p:cNvSpPr/>
          <p:nvPr/>
        </p:nvSpPr>
        <p:spPr>
          <a:xfrm>
            <a:off x="932688" y="2286000"/>
            <a:ext cx="777240" cy="777240"/>
          </a:xfrm>
          <a:prstGeom prst="ellipse">
            <a:avLst/>
          </a:prstGeom>
          <a:solidFill>
            <a:srgbClr val="3F8E82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Вероятност за смърт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Взима вероятността за смърт в конкретна година от договора (q</a:t>
            </a:r>
            <a:r>
              <a:rPr lang="en-US" sz="900" baseline="-4000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от таблицата за смъртност.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87368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25112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3B314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2" name="Shape 10"/>
          <p:cNvSpPr/>
          <p:nvPr/>
        </p:nvSpPr>
        <p:spPr>
          <a:xfrm>
            <a:off x="4617720" y="2286000"/>
            <a:ext cx="777240" cy="777240"/>
          </a:xfrm>
          <a:prstGeom prst="ellipse">
            <a:avLst/>
          </a:prstGeom>
          <a:solidFill>
            <a:srgbClr val="3F8E82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99432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Застрахователна сума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Умножава я по застрахователната сума, напр. €100 000 </a:t>
            </a:r>
            <a:r>
              <a:rPr lang="bg-BG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очакваният паричен поток при клеим.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56616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10144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3B314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8" name="Shape 16"/>
          <p:cNvSpPr/>
          <p:nvPr/>
        </p:nvSpPr>
        <p:spPr>
          <a:xfrm>
            <a:off x="8302752" y="2286000"/>
            <a:ext cx="777240" cy="777240"/>
          </a:xfrm>
          <a:prstGeom prst="ellipse">
            <a:avLst/>
          </a:prstGeom>
          <a:solidFill>
            <a:srgbClr val="3F8E82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9" name="Text 17"/>
          <p:cNvSpPr/>
          <p:nvPr/>
        </p:nvSpPr>
        <p:spPr>
          <a:xfrm>
            <a:off x="8302752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84464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Дисконтиране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84464" y="393192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Дисконтира сумата (напр. с 3% лихва), за да намери нейната днешна </a:t>
            </a:r>
            <a:r>
              <a:rPr lang="en-US" sz="1250" dirty="0" err="1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стойност</a:t>
            </a: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bg-BG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принцип на еквивалентността.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Цикълът се повтаря за всяка година от полицата, а сумата от дисконтираните очаквания дава Нетната еднократна премия.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754880"/>
            <a:ext cx="3291840" cy="3291840"/>
          </a:xfrm>
          <a:prstGeom prst="ellipse">
            <a:avLst/>
          </a:prstGeom>
          <a:solidFill>
            <a:srgbClr val="1E1726">
              <a:alpha val="60000"/>
            </a:srgbClr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Резултатът и демонстрация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4241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Прилагайки модела за конкретен клиентски профил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806440" cy="4251960"/>
          </a:xfrm>
          <a:prstGeom prst="roundRect">
            <a:avLst>
              <a:gd name="adj" fmla="val 2151"/>
            </a:avLst>
          </a:prstGeom>
          <a:solidFill>
            <a:srgbClr val="3B314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6" name="Text 4"/>
          <p:cNvSpPr/>
          <p:nvPr/>
        </p:nvSpPr>
        <p:spPr>
          <a:xfrm>
            <a:off x="96012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 НА КЛИЕНТА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30-годишен мъж  ·  10-годишна полица  · €100 000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застрахователна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сума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3246120"/>
            <a:ext cx="5120640" cy="0"/>
          </a:xfrm>
          <a:prstGeom prst="line">
            <a:avLst/>
          </a:prstGeom>
          <a:noFill/>
          <a:ln w="12700">
            <a:solidFill>
              <a:srgbClr val="4A3F59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НЕТНА ЕДНОКРАТНА ПРЕМИЯ (ЧИСТ РИСК)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bg-BG" sz="5800" b="1" dirty="0">
                <a:solidFill>
                  <a:srgbClr val="3F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r>
              <a:rPr lang="en-US" sz="5800" b="1" dirty="0">
                <a:solidFill>
                  <a:srgbClr val="3F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1 826.19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960120" y="5166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т.е. под 2% от застрахователната сума покрива очаквания демографски риск, дисконтиран към днешна стойност.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874520"/>
            <a:ext cx="489204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3" name="Shape 11"/>
          <p:cNvSpPr/>
          <p:nvPr/>
        </p:nvSpPr>
        <p:spPr>
          <a:xfrm>
            <a:off x="6995160" y="2194560"/>
            <a:ext cx="731520" cy="731520"/>
          </a:xfrm>
          <a:prstGeom prst="ellipse">
            <a:avLst/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4" name="Text 12"/>
          <p:cNvSpPr/>
          <p:nvPr/>
        </p:nvSpPr>
        <p:spPr>
          <a:xfrm>
            <a:off x="69951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956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C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Тествай модела на живо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995160" y="3154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Пълният код, данните и </a:t>
            </a:r>
            <a:r>
              <a:rPr lang="en-US" sz="1250" dirty="0" err="1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визуализациите</a:t>
            </a:r>
            <a:r>
              <a:rPr lang="en-US" sz="1250" dirty="0">
                <a:solidFill>
                  <a:srgbClr val="2B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в GitHub репозиторито на проекта.</a:t>
            </a:r>
            <a:endParaRPr lang="en-US" sz="1250" dirty="0"/>
          </a:p>
        </p:txBody>
      </p:sp>
      <p:sp>
        <p:nvSpPr>
          <p:cNvPr id="17" name="Shape 15">
            <a:hlinkClick r:id="rId3"/>
          </p:cNvPr>
          <p:cNvSpPr/>
          <p:nvPr/>
        </p:nvSpPr>
        <p:spPr>
          <a:xfrm>
            <a:off x="6995160" y="3977640"/>
            <a:ext cx="4251960" cy="566928"/>
          </a:xfrm>
          <a:prstGeom prst="roundRect">
            <a:avLst>
              <a:gd name="adj" fmla="val 50000"/>
            </a:avLst>
          </a:prstGeom>
          <a:solidFill>
            <a:srgbClr val="2C2438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18" name="Text 16"/>
          <p:cNvSpPr/>
          <p:nvPr/>
        </p:nvSpPr>
        <p:spPr>
          <a:xfrm>
            <a:off x="6995160" y="397764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philippenchev98/mortality-data-analysis</a:t>
            </a:r>
            <a:endParaRPr lang="en-US" sz="1100" dirty="0"/>
          </a:p>
        </p:txBody>
      </p:sp>
      <p:sp>
        <p:nvSpPr>
          <p:cNvPr id="19" name="Shape 17">
            <a:hlinkClick r:id="rId4"/>
          </p:cNvPr>
          <p:cNvSpPr/>
          <p:nvPr/>
        </p:nvSpPr>
        <p:spPr>
          <a:xfrm>
            <a:off x="6995160" y="4754880"/>
            <a:ext cx="4251960" cy="566928"/>
          </a:xfrm>
          <a:prstGeom prst="roundRect">
            <a:avLst>
              <a:gd name="adj" fmla="val 50000"/>
            </a:avLst>
          </a:prstGeom>
          <a:solidFill>
            <a:srgbClr val="3F8E82"/>
          </a:solidFill>
          <a:ln/>
        </p:spPr>
        <p:txBody>
          <a:bodyPr/>
          <a:lstStyle/>
          <a:p>
            <a:endParaRPr lang="bg-BG"/>
          </a:p>
        </p:txBody>
      </p:sp>
      <p:sp>
        <p:nvSpPr>
          <p:cNvPr id="20" name="Text 18"/>
          <p:cNvSpPr/>
          <p:nvPr/>
        </p:nvSpPr>
        <p:spPr>
          <a:xfrm>
            <a:off x="6995160" y="47548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24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▶  Open in Colab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95160" y="5486400"/>
            <a:ext cx="1234440" cy="1234440"/>
          </a:xfrm>
          <a:prstGeom prst="roundRect">
            <a:avLst>
              <a:gd name="adj" fmla="val 4444"/>
            </a:avLst>
          </a:prstGeom>
          <a:solidFill>
            <a:srgbClr val="F3F0F4"/>
          </a:solidFill>
          <a:ln w="12700">
            <a:solidFill>
              <a:srgbClr val="E2DCE6"/>
            </a:solidFill>
            <a:prstDash val="solid"/>
          </a:ln>
        </p:spPr>
        <p:txBody>
          <a:bodyPr/>
          <a:lstStyle/>
          <a:p>
            <a:endParaRPr lang="bg-BG"/>
          </a:p>
        </p:txBody>
      </p:sp>
      <p:sp>
        <p:nvSpPr>
          <p:cNvPr id="22" name="Text 20"/>
          <p:cNvSpPr/>
          <p:nvPr/>
        </p:nvSpPr>
        <p:spPr>
          <a:xfrm>
            <a:off x="6995160" y="54864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5577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2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Сканирай за директен достъп до репозиторито</a:t>
            </a:r>
            <a:endParaRPr lang="en-US" sz="1100" dirty="0"/>
          </a:p>
        </p:txBody>
      </p:sp>
      <p:pic>
        <p:nvPicPr>
          <p:cNvPr id="25" name="Picture 24" descr="A qr code with a dinosaur&#10;&#10;AI-generated content may be incorrect.">
            <a:extLst>
              <a:ext uri="{FF2B5EF4-FFF2-40B4-BE49-F238E27FC236}">
                <a16:creationId xmlns:a16="http://schemas.microsoft.com/office/drawing/2014/main" id="{F47122AE-31E7-58CC-F62B-45F9B21C3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066" y="548821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447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Филип Филипов Пенчев</cp:lastModifiedBy>
  <cp:revision>6</cp:revision>
  <dcterms:created xsi:type="dcterms:W3CDTF">2026-07-24T15:10:48Z</dcterms:created>
  <dcterms:modified xsi:type="dcterms:W3CDTF">2026-07-24T16:19:25Z</dcterms:modified>
</cp:coreProperties>
</file>